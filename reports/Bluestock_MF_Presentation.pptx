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1295C"/>
                </a:solidFill>
                <a:latin typeface="Calibri"/>
              </a:rPr>
              <a:t>Monthly SIP Inflow — Annual Snapshot (₹ Crore)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(₹ Crore)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11438</c:v>
                </c:pt>
                <c:pt idx="1">
                  <c:v>17850</c:v>
                </c:pt>
                <c:pt idx="2">
                  <c:v>24500</c:v>
                </c:pt>
                <c:pt idx="3">
                  <c:v>31002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AA3-4F40-A53F-EC02A01C1D1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AF4F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1295C"/>
                </a:solidFill>
                <a:latin typeface="Calibri"/>
              </a:rPr>
              <a:t>AUM by Fund House — ₹ Lakh Crore (Dec 2025)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Lakh Crore)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SBI MF</c:v>
                </c:pt>
                <c:pt idx="1">
                  <c:v>ICICI Pru</c:v>
                </c:pt>
                <c:pt idx="2">
                  <c:v>HDFC MF</c:v>
                </c:pt>
                <c:pt idx="3">
                  <c:v>Nippon India</c:v>
                </c:pt>
                <c:pt idx="4">
                  <c:v>Kotak MF</c:v>
                </c:pt>
                <c:pt idx="5">
                  <c:v>ABSL MF</c:v>
                </c:pt>
                <c:pt idx="6">
                  <c:v>UTI MF</c:v>
                </c:pt>
                <c:pt idx="7">
                  <c:v>Axis MF</c:v>
                </c:pt>
                <c:pt idx="8">
                  <c:v>Mirae Asset</c:v>
                </c:pt>
                <c:pt idx="9">
                  <c:v>DSP MF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12.5</c:v>
                </c:pt>
                <c:pt idx="1">
                  <c:v>10.74</c:v>
                </c:pt>
                <c:pt idx="2">
                  <c:v>9.3000000000000007</c:v>
                </c:pt>
                <c:pt idx="3">
                  <c:v>7</c:v>
                </c:pt>
                <c:pt idx="4">
                  <c:v>5.8</c:v>
                </c:pt>
                <c:pt idx="5">
                  <c:v>4.5999999999999996</c:v>
                </c:pt>
                <c:pt idx="6">
                  <c:v>4.0999999999999996</c:v>
                </c:pt>
                <c:pt idx="7">
                  <c:v>3.5</c:v>
                </c:pt>
                <c:pt idx="8">
                  <c:v>2.9</c:v>
                </c:pt>
                <c:pt idx="9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A6-43F7-8461-3A24F123D9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1295C"/>
                </a:solidFill>
                <a:latin typeface="Calibri"/>
              </a:rPr>
              <a:t>Top 5 by Sharpe Ratio (Rf = 6.5%)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Mirae Large Cap</c:v>
                </c:pt>
                <c:pt idx="1">
                  <c:v>Kotak Flexicap</c:v>
                </c:pt>
                <c:pt idx="2">
                  <c:v>Mirae Tax Saver</c:v>
                </c:pt>
                <c:pt idx="3">
                  <c:v>SBI Bluechip</c:v>
                </c:pt>
                <c:pt idx="4">
                  <c:v>ICICI Midcap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1.637</c:v>
                </c:pt>
                <c:pt idx="1">
                  <c:v>1.4590000000000001</c:v>
                </c:pt>
                <c:pt idx="2">
                  <c:v>1.3680000000000001</c:v>
                </c:pt>
                <c:pt idx="3">
                  <c:v>1.331</c:v>
                </c:pt>
                <c:pt idx="4">
                  <c:v>1.2969999999999999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7D-4144-B9D9-073F94A585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AF4F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1295C"/>
                </a:solidFill>
                <a:latin typeface="Calibri"/>
              </a:rPr>
              <a:t>Top 5 by 3-Year CAGR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3yr CAGR (%)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Axis Midcap</c:v>
                </c:pt>
                <c:pt idx="1">
                  <c:v>Mirae Large Cap</c:v>
                </c:pt>
                <c:pt idx="2">
                  <c:v>ICICI Bluechip Dir</c:v>
                </c:pt>
                <c:pt idx="3">
                  <c:v>HDFC Mid-Cap Opp</c:v>
                </c:pt>
                <c:pt idx="4">
                  <c:v>ICICI Midcap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35.11</c:v>
                </c:pt>
                <c:pt idx="1">
                  <c:v>34</c:v>
                </c:pt>
                <c:pt idx="2">
                  <c:v>32.49</c:v>
                </c:pt>
                <c:pt idx="3">
                  <c:v>32.44</c:v>
                </c:pt>
                <c:pt idx="4">
                  <c:v>31.78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AA-46C0-82A5-44E7AD677C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AF4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274320"/>
            <a:ext cx="2377440" cy="237744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 &amp; Interactive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Ridham Gupta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 |  Bluestock Fintech Pvt. Ltd.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486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87,533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5394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5486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5989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5394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5486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46,000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5989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5394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5486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4-Page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52560" y="5989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₹81 Lakh Crore MF Industry Lacks Unified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Problems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30936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Project Objectives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9280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92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 across AMFI website formats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60604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risk-adjusted fund comparison tool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63016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630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47472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tracking for retail investors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44988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498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34340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 data is siloed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" y="536752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5367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521208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takes days, not seconds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1737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19088" y="17373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— Automated ETL pipeline (Python)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81160" y="1737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90888" y="17373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— 10-table SQLite star schema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2880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19088" y="28803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— 15+ chart EDA notebook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281160" y="2880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390888" y="28803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— 7 performance metrics from raw NAV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4023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19088" y="40233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 — 4-page Power BI dashboard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281160" y="4023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390888" y="40233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 — Investor cohort + SIP continuity analysis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5166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19088" y="51663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 — Benchmark comparison + tracking error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281160" y="5166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390888" y="51663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 — Final report &amp; presentation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Datasets, 87,533 Rows, 4.4 Years of Market Data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858000" cy="35204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fund_master.csv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nav_history.csv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mfapi.in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investor_transactions.csv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(real distributions)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benchmark_indices.csv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 / BSE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scheme_performance.csv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from NAV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+ 5 more supporting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Monthly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7772400" y="13258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0" y="143560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0" y="2103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9829800" y="13258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829800" y="143560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829800" y="2103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0" y="2743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0" y="285292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0" y="3520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829800" y="2743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829800" y="285292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829800" y="3520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Tracked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URLs: amfiindia.com  |  api.mfapi.in/mf/{code}  |  nseindia.com  |  bseindia.com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5-Layer Data Engineering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2926080"/>
            <a:ext cx="1837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CSVs + mfapi.in REST API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828800"/>
            <a:ext cx="6217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62072" y="182880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62072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62072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71800" y="2926080"/>
            <a:ext cx="1837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cleaning, validation,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828800"/>
            <a:ext cx="6217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75504" y="182880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2C8C7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75504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75504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285232" y="2926080"/>
            <a:ext cx="1837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tables, 87,533 rows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87184" y="1828800"/>
            <a:ext cx="6217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88936" y="182880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4A7FB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88936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88936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598664" y="2926080"/>
            <a:ext cx="1837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notebooks, 7 metrics,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HHI, recommender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00616" y="1828800"/>
            <a:ext cx="6217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802368" y="182880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E8A3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802368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02368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912096" y="2926080"/>
            <a:ext cx="18379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slicers, drill-through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5-layer architecture mirrors real-world fintech pipelines used at Zerodha, Groww, and Paytm Money.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463040" y="530352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463040" y="53766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63040" y="58795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931920" y="530352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931920" y="53766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87,533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931920" y="58795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530352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53766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00800" y="58795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869680" y="530352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869680" y="53766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869680" y="58795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ETL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Inflows Grew 171% — From ₹11,438 Cr to ₹31,002 Cr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72668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26680" y="148132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₹31,002 Cr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72668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 SIP inflow — December 2025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2668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26680" y="303580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9.35 Crore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726680" y="3703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SIP accounts (Dec 2025)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44805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26680" y="45902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171% growth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726680" y="5257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SIP inflow, 2022 → 2025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crossed the ₹30,000 Cr monthly SIP milestone for the first time in December 2025 — reflecting deepening equity culture.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SBI Dominates — ₹12.5L Cr of ₹62.74L Cr Tracked AUM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7406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229600" y="137160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0" y="1719072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0" y="1371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AMCs (SBI, ICICI, HDFC) control ~50% of tracked AUM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0" y="256032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0" y="2907792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869680" y="25603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 nearly doubled: 13.26 → 26.12 crore (2022–2025)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0" y="374904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0" y="4096512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8869680" y="3749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 &amp; IT sectors dominate equity portfolios (&gt;14% &amp; &gt;11%)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0" y="4937760"/>
            <a:ext cx="3429000" cy="1005840"/>
          </a:xfrm>
          <a:prstGeom prst="roundRect">
            <a:avLst>
              <a:gd name="adj" fmla="val 7273"/>
            </a:avLst>
          </a:prstGeom>
          <a:solidFill>
            <a:srgbClr val="EAF4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12480" y="5285232"/>
            <a:ext cx="320040" cy="3200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0" y="49377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in our dataset: ₹62.74L Cr across 10 AMCs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7 Metrics Computed from Raw NAV — Not Pre-Loaded Values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396849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Return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NAV(t) / NAV(t-1) − 1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funds × 1,150 trading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(3yr)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(NAV_end / NAV_start)^(1/3) − 1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Midcap: 35.11%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(Return − 6.5%) / (σ × √252)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Large Cap: 1.637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Sortino Ratio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(Return − 6.5%) / Downside 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funds rank highest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&amp; Beta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regression vs NIFTY100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40 funds: positive alpha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min(NAV / running_max − 1)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Cap: −52.57%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38160" y="13716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366760" y="1554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Formula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366760" y="210312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3yr CAGR rank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Sharpe rank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Alpha rank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Expense rank (inverse)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Max DD rank (inverse)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366760" y="4434840"/>
            <a:ext cx="3063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" name="Text 5"/>
          <p:cNvSpPr/>
          <p:nvPr/>
        </p:nvSpPr>
        <p:spPr>
          <a:xfrm>
            <a:off x="8366760" y="4572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sourced entirely from our own ETL + analytics pipeline — not from scheme_performance.csv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Mirae Asset Large Cap Leads Risk-Adjusted Returns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217920" y="137160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7150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6" name="Text 2"/>
          <p:cNvSpPr/>
          <p:nvPr/>
        </p:nvSpPr>
        <p:spPr>
          <a:xfrm>
            <a:off x="731520" y="571500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funds deliver the highest returns but the worst drawdowns — SBI Small Cap fell −52.57% at its trough.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4-Page Interactive Power BI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931920"/>
          </a:xfrm>
          <a:prstGeom prst="rect">
            <a:avLst/>
          </a:prstGeom>
          <a:solidFill>
            <a:srgbClr val="EAF4F4"/>
          </a:solidFill>
          <a:ln w="12700">
            <a:solidFill>
              <a:srgbClr val="C9DCE6"/>
            </a:solidFill>
            <a:prstDash val="dash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743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Dashboard Screenshot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5440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806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(AUM, SIP, Folios) + AUM trend + Fund house comparison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94960" cy="3931920"/>
          </a:xfrm>
          <a:prstGeom prst="rect">
            <a:avLst/>
          </a:prstGeom>
          <a:solidFill>
            <a:srgbClr val="EAF4F4"/>
          </a:solidFill>
          <a:ln w="12700">
            <a:solidFill>
              <a:srgbClr val="C9DCE6"/>
            </a:solidFill>
            <a:prstDash val="dash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2743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Dashboard Screenshot 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5440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63640" y="5806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scatter (40 funds) + Sortable scorecard + NAV vs benchmark</a:t>
            </a:r>
            <a:endParaRPr lang="en-US" sz="11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0A4C35-F222-E269-142B-EC089DCE4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1325880"/>
            <a:ext cx="5487550" cy="39319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93C2AB-9CCA-0E85-CAC3-F864B86BB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1371600"/>
            <a:ext cx="5487550" cy="39297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Analytics &amp; SIP Market Trends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931920"/>
          </a:xfrm>
          <a:prstGeom prst="rect">
            <a:avLst/>
          </a:prstGeom>
          <a:solidFill>
            <a:srgbClr val="EAF4F4"/>
          </a:solidFill>
          <a:ln w="12700">
            <a:solidFill>
              <a:srgbClr val="C9DCE6"/>
            </a:solidFill>
            <a:prstDash val="dash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743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Dashboard Screenshot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5440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806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investment + Transaction split + Age group analysis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94960" cy="3931920"/>
          </a:xfrm>
          <a:prstGeom prst="rect">
            <a:avLst/>
          </a:prstGeom>
          <a:solidFill>
            <a:srgbClr val="EAF4F4"/>
          </a:solidFill>
          <a:ln w="12700">
            <a:solidFill>
              <a:srgbClr val="C9DCE6"/>
            </a:solidFill>
            <a:prstDash val="dash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2743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Dashboard Screenshot 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5440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63640" y="5806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 vs Nifty 50 (dual axis) + Category inflow heatmap</a:t>
            </a:r>
            <a:endParaRPr lang="en-US" sz="11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65B36D-71E2-BEC2-B0AE-4D102ED1B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371600"/>
            <a:ext cx="5394960" cy="39319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B64233-B927-C357-642D-94B55F928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71600"/>
            <a:ext cx="5520043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Actionable Recommendations for Bluestock Fintech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14630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 Migration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177393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0.7–1.0% expense annually — ₹28,000 extra on ₹1L over 10yrs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80360" y="14630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0" y="2240280"/>
            <a:ext cx="14630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 Intervention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44952" y="3383280"/>
            <a:ext cx="177393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Auto-remind investors with gap &gt; 35 days (1,362 tracked)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12080" y="14630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C05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532120" y="2240280"/>
            <a:ext cx="14630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Risk Warning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76672" y="3383280"/>
            <a:ext cx="177393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only to Very High risk appetite — max drawdown −52.57%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43800" y="14630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E8A3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43800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7863840" y="2240280"/>
            <a:ext cx="14630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8392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City Expansion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08392" y="3383280"/>
            <a:ext cx="177393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 transactions from B30 — untapped Tier-2/3 growth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75520" y="14630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2C8C7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875520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10195560" y="2240280"/>
            <a:ext cx="14630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0112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 Awareness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040112" y="3383280"/>
            <a:ext cx="177393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HHI 2,968 — recommend diversification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recommendations are derived directly from computed metrics in this project's analytics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Bluestock MF Analytics Platform — Complete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87,533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23774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468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Created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3774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468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Computed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3774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2468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4-Page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5256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Ridham Gupta  |  Data Analyst Intern</a:t>
            </a:r>
            <a:endParaRPr lang="en-US" sz="3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June 2026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github.com/RidhamGupta1201/bluestock-mf-capstone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171717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171717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971</Words>
  <Application>Microsoft Office PowerPoint</Application>
  <PresentationFormat>Widescreen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Ridham Gupta</dc:creator>
  <cp:lastModifiedBy>Ridham Gupta</cp:lastModifiedBy>
  <cp:revision>2</cp:revision>
  <dcterms:created xsi:type="dcterms:W3CDTF">2026-06-12T09:37:34Z</dcterms:created>
  <dcterms:modified xsi:type="dcterms:W3CDTF">2026-06-12T09:52:22Z</dcterms:modified>
</cp:coreProperties>
</file>